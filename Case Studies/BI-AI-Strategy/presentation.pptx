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200400"/>
            <a:ext cx="1828800" cy="18288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2743200"/>
            <a:ext cx="1005840" cy="1005840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Boehringer Ingelheim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€1B+ in Value Through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&amp; 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4645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IMPERATIVE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Pharma AI Can't Wait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$2.3B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75488" y="21762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to bring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to 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816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cuts that through smarter R&amp;D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9748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3716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401568" y="21762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2816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AI prediction prevents waste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69748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3716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327648" y="21762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drug discovery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2816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moving fast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AstraZeneca, Roche, Pfizer and Novartis have all established dedicated AI drug-discovery units. BI can lead, not follow.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Boehringer Ingelheim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3611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Facts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824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Founded 1885, Ingelheim, Germany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0939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Fully privately held (Boehringer family)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5054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~€24B annual revenue (2023)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9169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~53,000 employees in 130+ countries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3284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~€5.7B R&amp;D spend (≈23% of revenue)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7398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Therapeutic focus: Respiratory, CNS,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Cardiovascular, Oncology, Animal Health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Strong biologics manufacturing capabilities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4069080" cy="3611880"/>
          </a:xfrm>
          <a:prstGeom prst="rect">
            <a:avLst/>
          </a:prstGeom>
          <a:solidFill>
            <a:srgbClr val="0B1F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Factors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719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ownership — long investment horizon for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128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proprietary clinical trial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7066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bioinformatics &amp; comp-chem teams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200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Biologics manufacturing at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6941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Health data = unique cross-species biology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4187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1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needs unification across systems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Levers, One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611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16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€300–500M annual potential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&amp; lead optimization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recruitment &amp;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358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quality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387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demand forecasting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automation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023360" cy="3611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316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€1–2B NPV pipeline uplift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29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&amp; biomarker discovery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532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acceleration (2–3 years faster)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0358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novel drug modalities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5387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excellence &amp; sales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41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200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AI biomanufacturing revenue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Cuts Costs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709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Drug Discovery &amp; R&amp;D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21615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21615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€80-150M / drug program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 silico ADMET prediction cuts wet-lab iterations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Generative AI for novel molecular scaffold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Target ID from multi-omics data streams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- 30-40% reduction in lead optimization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114300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143000"/>
            <a:ext cx="64008" cy="1709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Clinical Trial Operations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52944" y="121615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121615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 faster recruitment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19472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NLP to match patients from EHR &amp; claims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protocol design to reduce amendments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Synthetic control arms to reduce trial size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Real-time safety signal detection at scale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64008" cy="1709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 Quality Control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82112" y="309067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09067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€50-100M / year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Predictive QC: catch batch failures 48hrs early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Process analytical technology + ML integration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Yield optimization via reinforcement learning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 OOS (out-of-spec) batch rate by 40-60%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36592" y="301752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017520"/>
            <a:ext cx="64008" cy="1709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Supply Chain &amp; Logistics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52944" y="309067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2944" y="309067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inventory savings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19472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demand forecasting across 200+ markets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Cold chain optimization for biologics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Supplier risk prediction &amp; pre-emptive actions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 API write-offs by 25%+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Creates Revenue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709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Precision Medicine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21615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21615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€500M+ NPV potential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biomarker discovery for companion diagnostics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Patient stratification drives better trial success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Premium pricing for validated precision 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Example: expand OFEV biomarker-defined populations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114300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143000"/>
            <a:ext cx="64008" cy="1709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Pipeline Acceleration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52944" y="121615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121615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years to market sooner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19472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compresses discovery phase by up to 50%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Each year saved = ~€200-500M in pipeline NPV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First-mover advantage in emerging target classes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Screen 5-10x more compounds per dollar spent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17520"/>
            <a:ext cx="64008" cy="1709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Novel Drug Modalities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82112" y="309067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309067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new segments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AI-designed ADCs, PROTACs, RNA therapeutics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Generative models find chemistry humans miss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BI biologics platform x AI = differentiated pipeline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Access 'undruggable' targets via new modalities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36592" y="3017520"/>
            <a:ext cx="416052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017520"/>
            <a:ext cx="64008" cy="1709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Commercial Excellence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52944" y="3090672"/>
            <a:ext cx="1216152" cy="246888"/>
          </a:xfrm>
          <a:prstGeom prst="rect">
            <a:avLst/>
          </a:prstGeom>
          <a:solidFill>
            <a:srgbClr val="CCF0EC"/>
          </a:solidFill>
          <a:ln w="12700">
            <a:solidFill>
              <a:srgbClr val="CCF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2944" y="3090672"/>
            <a:ext cx="1216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5-15% revenue uplift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19472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AI-driven sales territory optimization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Dynamic pricing &amp; market access modeling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HCP next-best-action recommendations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 adherence gaps and intervene proactively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vs. Speed to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977640" cy="1965960"/>
          </a:xfrm>
          <a:prstGeom prst="rect">
            <a:avLst/>
          </a:prstGeom>
          <a:solidFill>
            <a:srgbClr val="E8EEF6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16552" y="1170432"/>
            <a:ext cx="4361688" cy="1965960"/>
          </a:xfrm>
          <a:prstGeom prst="rect">
            <a:avLst/>
          </a:prstGeom>
          <a:solidFill>
            <a:srgbClr val="DFF5F0"/>
          </a:solidFill>
          <a:ln w="12700">
            <a:solidFill>
              <a:srgbClr val="B2E4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00400"/>
            <a:ext cx="3977640" cy="1627632"/>
          </a:xfrm>
          <a:prstGeom prst="rect">
            <a:avLst/>
          </a:prstGeom>
          <a:solidFill>
            <a:srgbClr val="F8F8FA"/>
          </a:solidFill>
          <a:ln w="12700">
            <a:solidFill>
              <a:srgbClr val="E2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6552" y="3200400"/>
            <a:ext cx="4361688" cy="1627632"/>
          </a:xfrm>
          <a:prstGeom prst="rect">
            <a:avLst/>
          </a:prstGeom>
          <a:solidFill>
            <a:srgbClr val="FFFAEB"/>
          </a:solidFill>
          <a:ln w="12700">
            <a:solidFill>
              <a:srgbClr val="F0D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252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(Invest for the Long Term)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53712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 (High Impact + Quick Win)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53712" y="3264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(smaller impact)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719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 novo AI molecular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Precision medicine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AI-first drug discovery lab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53712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Manufacturing QC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1901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Clinical trial patient matching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22494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ADMET prediction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2596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Pharmacovigilance NLP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547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Generic chatbots / help desks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867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Non-core HR automation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547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Supply chain forecasting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53712" y="3867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Commercial analytics dashboards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4187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Regulatory doc drafting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&lt;-- Hard to execute   |   SPEED TO VALUE   |   Easy to execute --&gt;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PRIORITIES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Implement First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62179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AI-Augmented Lead Optimization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 per € invested — build on existing comp-chem teams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13167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49240" y="153619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6-9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01384" y="13167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01384" y="153619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€15-25M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53528" y="13167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53528" y="153619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€80-120M / program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6217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9806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Clinical Trial Patient Matching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8895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runs 100+ trials/year; faster recruitment = millions saved + earlier revenue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5786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2798064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months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01384" y="25786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01384" y="2798064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€5-10M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53528" y="25786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53528" y="2798064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20-25% recruitment savings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3075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730752"/>
            <a:ext cx="621792" cy="1097280"/>
          </a:xfrm>
          <a:prstGeom prst="rect">
            <a:avLst/>
          </a:prstGeom>
          <a:solidFill>
            <a:srgbClr val="1B5E79"/>
          </a:solidFill>
          <a:ln w="12700">
            <a:solidFill>
              <a:srgbClr val="1B5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5993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 Predictive QC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15137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biologics plant footprint already collects rich sensor data — low integration cost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84048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49240" y="4059936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01384" y="384048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01384" y="4059936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€10-20M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53528" y="384048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53528" y="4059936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€50-100M / year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36-Month AI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91440"/>
          </a:xfrm>
          <a:prstGeom prst="rect">
            <a:avLst/>
          </a:prstGeom>
          <a:solidFill>
            <a:srgbClr val="C5D3E8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8488" y="1216152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27432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2763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30428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Appoint Chief AI Officer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77977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Launch 3 Year-1 pilots simultaneously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255264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Unified data lake (R&amp;D + clinical + mfg)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73075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governance policy &amp; ethics 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420624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€50M innovation fund allocated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98848" y="1216152"/>
            <a:ext cx="219456" cy="21945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5087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508760"/>
            <a:ext cx="27432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62763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INTEGRATE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230428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Roll out successful pilots enterprise-wide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77977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Center of Excellence (50+ AI staff)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255264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- 5 additional use cases activated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373075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Commercial AI platform deployed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420624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First AI-discovered compound in preclinical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79208" y="1216152"/>
            <a:ext cx="219456" cy="219456"/>
          </a:xfrm>
          <a:prstGeom prst="ellipse">
            <a:avLst/>
          </a:prstGeom>
          <a:solidFill>
            <a:srgbClr val="1B5E79"/>
          </a:solidFill>
          <a:ln w="12700">
            <a:solidFill>
              <a:srgbClr val="1B5E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5087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508760"/>
            <a:ext cx="2743200" cy="91440"/>
          </a:xfrm>
          <a:prstGeom prst="rect">
            <a:avLst/>
          </a:prstGeom>
          <a:solidFill>
            <a:srgbClr val="1B5E79"/>
          </a:solidFill>
          <a:ln w="12700">
            <a:solidFill>
              <a:srgbClr val="1B5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62763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24–36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3620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230428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AI-native drug discovery at full scale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2779776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- 3+ AI-designed compounds in clinical trials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3255264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Manufacturing: €100M+ savings/year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3730752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External AI ventures &amp; licensing revenue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420624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Recognised as top-5 pharma AI leader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Value at Stake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based on top-quartile pharma AI benchmarks &amp; peer disclosures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51760" cy="2907792"/>
          </a:xfrm>
          <a:prstGeom prst="rect">
            <a:avLst/>
          </a:prstGeom>
          <a:solidFill>
            <a:srgbClr val="12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26517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54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" y="193852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€300–500M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1208" y="2606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Savings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9992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+ Clinical Ops + R&amp;D efficiency gains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417320"/>
            <a:ext cx="2651760" cy="2907792"/>
          </a:xfrm>
          <a:prstGeom prst="rect">
            <a:avLst/>
          </a:prstGeom>
          <a:solidFill>
            <a:srgbClr val="12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17320"/>
            <a:ext cx="26517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54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193852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Years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606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Acceleration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9992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approvals = years of additional peak-sales exclusivity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27064" y="1417320"/>
            <a:ext cx="2651760" cy="2907792"/>
          </a:xfrm>
          <a:prstGeom prst="rect">
            <a:avLst/>
          </a:prstGeom>
          <a:solidFill>
            <a:srgbClr val="122535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417320"/>
            <a:ext cx="26517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554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36792" y="193852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€1–2B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36792" y="2606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Pipeline Uplift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6792" y="29992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2-3 programs reaching market faster + precision premium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626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5-Year Value: €3–6B  |  Required Investment: €150–300M  |  Expected ROI: 10–20x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AI Work Safely at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64008" cy="363931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Uncertainty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FDA/EMA guidance on AI/ML in drug development still evolving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Silos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legacy systems across 130+ countries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346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need interpretable decisions for clinical 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4290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Data Privacy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compliance; proprietary data leakage risk via LLMs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023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Competition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with Big Tech for top AI/ML scientists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1170432"/>
            <a:ext cx="404164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170432"/>
            <a:ext cx="64008" cy="3639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16459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Affairs AI Unit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FDA engagement; IPRP AI working group participation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2402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Modernisation Program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CTO-sponsored 3-year roadmap to unified data lake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28346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by Default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layer required on all clinical-facing models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9472" y="34290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Infrastructure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LLMs for sensitive data; strict vendor AI contracts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4023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&amp; Partnerships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AI fellowship + research ties with ETH, MIT, Cambridge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3200400"/>
            <a:ext cx="3474720" cy="3474720"/>
          </a:xfrm>
          <a:prstGeom prst="ellipse">
            <a:avLst/>
          </a:prstGeom>
          <a:solidFill>
            <a:srgbClr val="132B42"/>
          </a:solidFill>
          <a:ln w="12700">
            <a:solidFill>
              <a:srgbClr val="132B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9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Forward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3990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Chief AI Officer (CEO direct report) — signal strategic commitment and unify fragmented efforts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0848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€50M innovation fund in Q1 2026 — launch the three Year-1 priorities simultaneously, not sequentially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76148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27706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proprietary AI data platform — BI's private status means no external pressure to share data, a real moat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44728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34564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selectively with AI-native discovery firms (Recursion, Isomorphic Labs, Insilico Medicine) to accelerate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133088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414223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Ethics &amp; Governance Board in Q1 — pre-empt regulatory scrutiny, earn HCP and patient trust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action: Convene AI Strategy Working Group by April 2026 — CDO, CMO, Head of R&amp;D, CFO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Strategy – Boehringer Ingelheim</dc:title>
  <dc:subject>PptxGenJS Presentation</dc:subject>
  <dc:creator>PptxGenJS</dc:creator>
  <cp:lastModifiedBy>PptxGenJS</cp:lastModifiedBy>
  <cp:revision>1</cp:revision>
  <dcterms:created xsi:type="dcterms:W3CDTF">2026-03-22T16:42:26Z</dcterms:created>
  <dcterms:modified xsi:type="dcterms:W3CDTF">2026-03-22T16:42:26Z</dcterms:modified>
</cp:coreProperties>
</file>