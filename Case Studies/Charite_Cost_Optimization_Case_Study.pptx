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74151"/>
                </a:solidFill>
                <a:latin typeface="Arial"/>
              </a:rPr>
              <a:t>Net Loss / Surplus (€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Deficit (€M)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-18</c:v>
                </c:pt>
                <c:pt idx="1">
                  <c:v>0</c:v>
                </c:pt>
                <c:pt idx="2">
                  <c:v>-55</c:v>
                </c:pt>
                <c:pt idx="3">
                  <c:v>-134.6</c:v>
                </c:pt>
                <c:pt idx="4">
                  <c:v>-87.4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oval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HEALTHCARE CONSULTING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Cost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Charité – Universitätsmedizin Berlin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749040"/>
            <a:ext cx="25603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587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 ·  Equipment Utilization  ·  Procurement  ·  Cost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Publicly Available Data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Charité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LARGEST UNIVERSITY HOSPITAL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15568"/>
            <a:ext cx="170078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24,300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84048" y="1801368"/>
            <a:ext cx="170078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 avg.)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15568"/>
            <a:ext cx="170078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801368"/>
            <a:ext cx="170078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Beds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0584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115568"/>
            <a:ext cx="170078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€2.9B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36592" y="1801368"/>
            <a:ext cx="170078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(2024)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100584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12864" y="1115568"/>
            <a:ext cx="170078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966K+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912864" y="1801368"/>
            <a:ext cx="170078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Treated (2024)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85953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42032"/>
            <a:ext cx="54864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51760"/>
            <a:ext cx="8138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1710, Charité is one of the world's most renowned academic medical centers. </a:t>
            </a:r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operates across four Berlin campuses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affiliated with both Humboldt University and Freie Universität. With 60+ operating theaters, a major research arm (€277M in third-party funding), and Germany's largest medical school, it sits at the intersection of care delivery, research, and teaching — making cost optimization especially complex.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7731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Charité Annual Report 2024 · Wikipedia · charite.de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Financial Reality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DEFICITS DESPITE RECORD REVENUES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83480" y="100584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83480" y="100584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0" y="1051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Personnel costs hit €1.6B in 2024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+€106.8M vs 2023 (+7.2%)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83480" y="182880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828800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 of German hospitals forecast losses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2194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Hospital Institute, 2023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83480" y="265176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83480" y="265176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€134.6M deficit in 2023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3017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year on record for Charité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983480" y="347472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83480" y="3474720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3520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improved by €47.2M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12080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measures + higher throughput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" y="47731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Charité Annual Report 2024 · themunicheye.com · German Hospital Institute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Charité Loses Money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INEFFICIENCY AREAS IDENTIFIED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444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STAFFING &amp; SCHEDULING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staff spend as little as 5–35% of time in direct patient care (German benchmark data)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cost driver: €1.6B personnel costs — 55%+ of total spend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escalation (+7.2% YoY) outpaces revenue growth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shift structure creates high standby costs during low-demand hours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859536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14600"/>
            <a:ext cx="54864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EQUIPMENT &amp; OR UTILIZATION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operating theaters — OR idle time estimated at 30–40% industry-wide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imaging &amp; diagnostic equipment underutilized across campuses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cross-campus equipment scheduling system reported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procurement fragmented across 4 campuses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023360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402336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69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SUPPLY CHAIN &amp; PROCUREMENT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purchasing across departments reduces bulk-buying leverage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&amp; consumables costs are second largest operational expense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evidence of unified Group Purchasing Organization (GPO) structure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Charité Annual Report 2024 · PMC German Hospital Efficiency Studies · DKI 2023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Cost-Saving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· PRIORITIZED BY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Redesign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AI-driven shift scheduling to reduce standby labor during off-peak periods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cross-training programs to increase task flexibility per nurse/technician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centralized staffing pools across campuses to reduce agency hires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nurse-to-bed ratios against DRG peer hospitals; target 5–8% FTE savings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297680"/>
            <a:ext cx="2743200" cy="48463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32511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89888" y="432511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€40–80M / yr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743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58768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&amp; Equipment Optimization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627632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OR scheduling platform targeting ≥85% utilization (from est. ~65%)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booking for high-cost imaging (MRI, CT) across all 4 campuses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predictive maintenance to cut equipment downtime by 20–30%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equipment procurement via a unified tender process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4297680"/>
            <a:ext cx="2743200" cy="484632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432511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5968" y="432511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€15–30M / yr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74320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60120"/>
            <a:ext cx="27432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84848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Consolidation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1627632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Group Purchasing Organization (GPO) for pharmaceuticals &amp; consumables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surgical kits and reduce SKU count across specialties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RFID-based inventory tracking to cut waste and overstocking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Charité's scale (€2.9B revenue) for 10–15% bulk supplier renegotiation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4297680"/>
            <a:ext cx="2743200" cy="48463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432511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432511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€10–20M / yr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estimates based on German hospital reform benchmarks, DKI data, and published industry case studies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Impact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 IN 3 YEARS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17520" y="2240280"/>
            <a:ext cx="18288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·  0–12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OR scheduling platform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top 20 supplier contracts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cross-campus staffing pool pilot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rollout in surgical supply chains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877056"/>
            <a:ext cx="2743200" cy="48463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0448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Est. Savings: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39044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~€15–25M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240280"/>
            <a:ext cx="18288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60120"/>
            <a:ext cx="274320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87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 ·  12–24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48132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 Reform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865376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shift optimization deployed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fully operational across all campuses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asset consolidation complete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surgical kit adoption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877056"/>
            <a:ext cx="2743200" cy="484632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90448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Est. Savings: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39044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~€30–50M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74320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987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 ·  24–36 Months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48132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Sustained Gains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865376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model fully redesigned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live hospital-wide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savings compounding annually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DRG-optimized case mix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3877056"/>
            <a:ext cx="2743200" cy="48463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90448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Est. Savings: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89520" y="39044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€65–130M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498848"/>
            <a:ext cx="8595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498848"/>
            <a:ext cx="54864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1713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Deficit: </a:t>
            </a:r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€87.4M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3-Year Strategy Potential: </a:t>
            </a:r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€65–130M+ annual savings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enough to fully close or reverse the deficit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are illustrative based on published German hospital benchmarks and industry efficiency data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103120"/>
            <a:ext cx="4114800" cy="4114800"/>
          </a:xfrm>
          <a:prstGeom prst="oval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oval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CHARITÉ COST OPTIMIZATION CASE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47472" cy="347472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081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Charité's €87.4M 2024 deficit — down from €134.6M in 2023 — signals progress, but structural reform is still needed to reach break-even.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47472" cy="347472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311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costs (€1.6B, 55%+ of spend) are the #1 lever: smarter scheduling and workforce flexibility could yield €40–80M annually.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347472" cy="347472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540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OR utilization represent high-ROI, fast-implementation opportunities — benchmarks suggest 20–25% efficiency gains are achievable.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347472" cy="347472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877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consolidation via a GPO strategy is an underutilized tool for a hospital of Charité's scale.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Charité Annual Report 2024 · DKI Survey 2023 · PMC Hospital Efficiency Studies · German Hospital Institute · themunicheye.com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Cost Optimization Analysis — Charité Berlin</dc:title>
  <dc:subject>PptxGenJS Presentation</dc:subject>
  <dc:creator>Kevin</dc:creator>
  <cp:lastModifiedBy>Kevin</cp:lastModifiedBy>
  <cp:revision>1</cp:revision>
  <dcterms:created xsi:type="dcterms:W3CDTF">2026-03-22T13:18:32Z</dcterms:created>
  <dcterms:modified xsi:type="dcterms:W3CDTF">2026-03-22T13:18:32Z</dcterms:modified>
</cp:coreProperties>
</file>